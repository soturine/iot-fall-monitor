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972CF91-1F69-4F10-970A-92FAE3792E2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Rafael: abrir o vídeo apresentando o título, os autores e o propósito geral. Falar que é um sistema IoT full-stack, demonstrável, com hardware real e dashboard web.</a:t>
            </a:r>
          </a:p>
        </p:txBody>
      </p:sp>
      <p:sp>
        <p:nvSpPr>
          <p:cNvPr id="4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952FEF-9466-45E8-8051-1F6D6DFF32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Rafael: contextualizar o problema. Evite prometer validação médica. Fale que o protótipo é acadêmico e experimental, mas demonstra a integração ponta a ponta.</a:t>
            </a:r>
          </a:p>
        </p:txBody>
      </p:sp>
      <p:sp>
        <p:nvSpPr>
          <p:cNvPr id="4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BCCA99-C3D1-42A5-B3C8-3665672A20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Rodrigo: apresentar o objetivo como uma integração completa: firmware, broker MQTT, backend, banco, Socket.IO e frontend. Reforçar que não substitui avaliação clínica.</a:t>
            </a:r>
          </a:p>
        </p:txBody>
      </p:sp>
      <p:sp>
        <p:nvSpPr>
          <p:cNvPr id="4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8EEA1A-1005-4C08-A3F6-ABB28CBAEF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Rafael: descrever o fluxo da esquerda para a direita. Reforçar que o navegador não decide queda; o firmware envia eventos e o backend organiza o escopo e histórico.</a:t>
            </a:r>
          </a:p>
        </p:txBody>
      </p:sp>
      <p:sp>
        <p:nvSpPr>
          <p:cNvPr id="4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C36A45-AED2-4CB8-9E3C-950F22D521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Rodrigo: explicar o hardware. Dizer que o MPU6050 mede aceleração e giro; o ESP32 processa localmente e publica MQTT. Citar a ligação do sensor: VCC 3V3, GND, SDA GPIO21, SCL GPIO22.</a:t>
            </a:r>
          </a:p>
        </p:txBody>
      </p:sp>
      <p:sp>
        <p:nvSpPr>
          <p:cNvPr id="4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B1CA67-B644-4A11-BAD7-50206FBA44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Rafael: explicar que a queda confirmada só acontece quando existe sequência completa: impacto, mudança de orientação e imobilidade. Movimento intenso não vira queda automaticamente e não toca buzzer.</a:t>
            </a:r>
          </a:p>
        </p:txBody>
      </p:sp>
      <p:sp>
        <p:nvSpPr>
          <p:cNvPr id="4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5DE3FA-FB98-4B73-8CAE-1A4BF0A2A7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Rodrigo: falar do backend como MVC-like: routes, controllers, services e acesso ao banco. Explicar que o JWT protege o painel web, enquanto o MQTT é o canal do dispositivo.</a:t>
            </a:r>
          </a:p>
        </p:txBody>
      </p:sp>
      <p:sp>
        <p:nvSpPr>
          <p:cNvPr id="4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2D05CF-E42E-4560-B342-FC3B7939D8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Rafael: explicar o que aparece no dashboard: status online, modo demo, bateria estimada, RSSI, gráfico de telemetria e fila de alertas. Durante o vídeo, alternar rapidamente para o sistema real se possível.</a:t>
            </a:r>
          </a:p>
        </p:txBody>
      </p:sp>
      <p:sp>
        <p:nvSpPr>
          <p:cNvPr id="4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365A3F-C00D-4854-9A84-AE7C0F5221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Rodrigo: apresentar os resultados. Dizer que a queda controlada em superfície macia comprovou o fluxo de impacto, orientação e imobilidade. Não falar em validação clínica; é validação preliminar acadêmica.</a:t>
            </a:r>
          </a:p>
        </p:txBody>
      </p:sp>
      <p:sp>
        <p:nvSpPr>
          <p:cNvPr id="4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5C587F-7611-46F0-B8A3-78993B0F91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Rafael: discutir de forma honesta. O protótipo funciona para demonstração, mas precisa de dataset maior e calibração para uso real. Destacar segurança do teste.</a:t>
            </a:r>
          </a:p>
        </p:txBody>
      </p:sp>
      <p:sp>
        <p:nvSpPr>
          <p:cNvPr id="45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D64C8-611B-42BC-88D6-F4CC21D76D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Rodrigo: fechar dizendo que o sistema demonstra bem os conceitos de IoT, redes, backend, banco de dados, segurança e interface. Citar os próximos passos.</a:t>
            </a:r>
          </a:p>
        </p:txBody>
      </p:sp>
      <p:sp>
        <p:nvSpPr>
          <p:cNvPr id="45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EE73B9-CFC0-4BDD-BEE4-7D96C17FF3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30280" y="493920"/>
            <a:ext cx="566640" cy="566640"/>
          </a:xfrm>
          <a:prstGeom prst="roundRect">
            <a:avLst>
              <a:gd name="adj" fmla="val 25806"/>
            </a:avLst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12720" y="685800"/>
            <a:ext cx="383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IoT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30280" y="1298520"/>
            <a:ext cx="822924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SISTEMA IOT FULL-STACK PARA MONITORAMENTO E DETECÇÃO DE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QUEDAS EM IDOSOS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8640" y="2615040"/>
            <a:ext cx="7954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ESP32 • MPU6050 • MQTT • Node.js • MySQL • Socket.IO • React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548640" y="3035880"/>
            <a:ext cx="2559960" cy="255600"/>
          </a:xfrm>
          <a:prstGeom prst="roundRect">
            <a:avLst>
              <a:gd name="adj" fmla="val 50000"/>
            </a:avLst>
          </a:prstGeom>
          <a:solidFill>
            <a:srgbClr val="071923"/>
          </a:solidFill>
          <a:ln w="12700">
            <a:solidFill>
              <a:srgbClr val="07192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48640" y="3076920"/>
            <a:ext cx="2559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v0.9.0 — Demo acadêmica integrada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3273480" y="3076920"/>
            <a:ext cx="17370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8796600" y="987480"/>
            <a:ext cx="2331360" cy="4480200"/>
          </a:xfrm>
          <a:prstGeom prst="roundRect">
            <a:avLst>
              <a:gd name="adj" fmla="val 9804"/>
            </a:avLst>
          </a:prstGeom>
          <a:solidFill>
            <a:srgbClr val="071923"/>
          </a:solidFill>
          <a:ln w="12700">
            <a:solidFill>
              <a:srgbClr val="071923"/>
            </a:solidFill>
            <a:round/>
          </a:ln>
          <a:effectLst>
            <a:outerShdw blurRad="25560" dist="12218" dir="2700000" algn="bl" rotWithShape="0">
              <a:srgbClr val="516E7C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9098280" y="1444680"/>
            <a:ext cx="1737000" cy="2925720"/>
          </a:xfrm>
          <a:prstGeom prst="roundRect">
            <a:avLst>
              <a:gd name="adj" fmla="val 10526"/>
            </a:avLst>
          </a:prstGeom>
          <a:solidFill>
            <a:srgbClr val="EFFFFB"/>
          </a:solidFill>
          <a:ln w="12700">
            <a:solidFill>
              <a:srgbClr val="EFFF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9326880" y="2926080"/>
            <a:ext cx="383760" cy="360"/>
          </a:xfrm>
          <a:prstGeom prst="line">
            <a:avLst/>
          </a:prstGeom>
          <a:ln w="381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 flipV="1">
            <a:off x="9710640" y="2541960"/>
            <a:ext cx="201240" cy="384120"/>
          </a:xfrm>
          <a:prstGeom prst="line">
            <a:avLst/>
          </a:prstGeom>
          <a:ln w="381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9911880" y="2541960"/>
            <a:ext cx="292680" cy="749880"/>
          </a:xfrm>
          <a:prstGeom prst="line">
            <a:avLst/>
          </a:prstGeom>
          <a:ln w="381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10204560" y="3291840"/>
            <a:ext cx="384120" cy="360"/>
          </a:xfrm>
          <a:prstGeom prst="line">
            <a:avLst/>
          </a:prstGeom>
          <a:ln w="381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510228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Rafael Ryan Ramos de Souza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Rodrigo de Souza Scarinci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48640" y="5669280"/>
            <a:ext cx="6217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Universidade do Vale do Paraíba • Engenharia da Computação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530280" y="3841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CONTEXTO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511920" y="6584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Introdução: por que monitorar quedas?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567000" y="1417320"/>
            <a:ext cx="4827600" cy="413280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868680" y="190188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1033200" y="182880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Quedas e longos períodos de imobilidade são eventos de risco para idosos.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868680" y="268848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1033200" y="261504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A resposta rápida depende de alerta, histórico e acompanhamento remoto.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868680" y="347472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1033200" y="340164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Sensores inerciais permitem detectar impacto, rotação e mudança de postura.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868680" y="426096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1033200" y="418788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A solução proposta integra hardware real com sistema web para operação.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6812280" y="1298520"/>
            <a:ext cx="2377080" cy="4023000"/>
          </a:xfrm>
          <a:prstGeom prst="roundRect">
            <a:avLst>
              <a:gd name="adj" fmla="val 9615"/>
            </a:avLst>
          </a:prstGeom>
          <a:solidFill>
            <a:srgbClr val="EFFFFB"/>
          </a:solidFill>
          <a:ln w="12700">
            <a:solidFill>
              <a:srgbClr val="CFE4EA"/>
            </a:solidFill>
            <a:round/>
          </a:ln>
          <a:effectLst>
            <a:outerShdw blurRad="19080" dist="12218" dir="2700000" algn="bl" rotWithShape="0">
              <a:srgbClr val="8BA0AD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7635240" y="1700640"/>
            <a:ext cx="749520" cy="74952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5"/>
          <p:cNvSpPr/>
          <p:nvPr/>
        </p:nvSpPr>
        <p:spPr>
          <a:xfrm>
            <a:off x="7333560" y="2560320"/>
            <a:ext cx="1371240" cy="1444320"/>
          </a:xfrm>
          <a:prstGeom prst="roundRect">
            <a:avLst>
              <a:gd name="adj" fmla="val 13333"/>
            </a:avLst>
          </a:prstGeom>
          <a:solidFill>
            <a:srgbClr val="071923"/>
          </a:solidFill>
          <a:ln w="12700">
            <a:solidFill>
              <a:srgbClr val="0719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6"/>
          <p:cNvSpPr/>
          <p:nvPr/>
        </p:nvSpPr>
        <p:spPr>
          <a:xfrm>
            <a:off x="7836480" y="3154680"/>
            <a:ext cx="822600" cy="200880"/>
          </a:xfrm>
          <a:prstGeom prst="roundRect">
            <a:avLst>
              <a:gd name="adj" fmla="val 36364"/>
            </a:avLst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9738360" y="2148840"/>
            <a:ext cx="1416960" cy="2468520"/>
          </a:xfrm>
          <a:prstGeom prst="roundRect">
            <a:avLst>
              <a:gd name="adj" fmla="val 9677"/>
            </a:avLst>
          </a:prstGeom>
          <a:solidFill>
            <a:srgbClr val="0B2530"/>
          </a:solidFill>
          <a:ln w="12700">
            <a:solidFill>
              <a:srgbClr val="0B25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9948600" y="2514600"/>
            <a:ext cx="1005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ALERTA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9912240" y="297180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FFAF4"/>
                </a:solidFill>
                <a:effectLst/>
                <a:uFillTx/>
                <a:latin typeface="Aptos"/>
              </a:rPr>
              <a:t>queda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FFAF4"/>
                </a:solidFill>
                <a:effectLst/>
                <a:uFillTx/>
                <a:latin typeface="Aptos"/>
              </a:rPr>
              <a:t>confirmada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0"/>
          <p:cNvSpPr/>
          <p:nvPr/>
        </p:nvSpPr>
        <p:spPr>
          <a:xfrm>
            <a:off x="8942760" y="3291840"/>
            <a:ext cx="567000" cy="360"/>
          </a:xfrm>
          <a:prstGeom prst="line">
            <a:avLst/>
          </a:prstGeom>
          <a:ln w="3175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1"/>
          <p:cNvSpPr/>
          <p:nvPr/>
        </p:nvSpPr>
        <p:spPr>
          <a:xfrm>
            <a:off x="6583680" y="5632560"/>
            <a:ext cx="201132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6729840" y="5769720"/>
            <a:ext cx="1718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0A89D"/>
                </a:solidFill>
                <a:effectLst/>
                <a:uFillTx/>
                <a:latin typeface="Aptos Display"/>
                <a:ea typeface="Aptos Display"/>
              </a:rPr>
              <a:t>tempo real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3"/>
          <p:cNvSpPr/>
          <p:nvPr/>
        </p:nvSpPr>
        <p:spPr>
          <a:xfrm>
            <a:off x="6729840" y="6108120"/>
            <a:ext cx="1718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dashboard e histórico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4"/>
          <p:cNvSpPr/>
          <p:nvPr/>
        </p:nvSpPr>
        <p:spPr>
          <a:xfrm>
            <a:off x="8796600" y="5632560"/>
            <a:ext cx="191988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5"/>
          <p:cNvSpPr/>
          <p:nvPr/>
        </p:nvSpPr>
        <p:spPr>
          <a:xfrm>
            <a:off x="8942760" y="5769720"/>
            <a:ext cx="16272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48D597"/>
                </a:solidFill>
                <a:effectLst/>
                <a:uFillTx/>
                <a:latin typeface="Aptos Display"/>
                <a:ea typeface="Aptos Display"/>
              </a:rPr>
              <a:t>baixo custo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6"/>
          <p:cNvSpPr/>
          <p:nvPr/>
        </p:nvSpPr>
        <p:spPr>
          <a:xfrm>
            <a:off x="8942760" y="6108120"/>
            <a:ext cx="1627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ESP32 + MPU6050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7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8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530280" y="3841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O QUE A SOLUÇÃO ENTREGA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511920" y="6584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Objetivo do projeto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621720" y="1325880"/>
            <a:ext cx="5120280" cy="4205880"/>
          </a:xfrm>
          <a:prstGeom prst="roundRect">
            <a:avLst>
              <a:gd name="adj" fmla="val 2609"/>
            </a:avLst>
          </a:prstGeom>
          <a:solidFill>
            <a:srgbClr val="071923"/>
          </a:solidFill>
          <a:ln w="12700">
            <a:solidFill>
              <a:srgbClr val="071923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960120" y="1783080"/>
            <a:ext cx="448020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Desenvolver e demonstrar um sistema IoT full-stack capaz de monitorar movimentos, registrar eventos e apoiar a resposta operacional a quedas.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960120" y="4526280"/>
            <a:ext cx="4343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CDEEF2"/>
                </a:solidFill>
                <a:effectLst/>
                <a:uFillTx/>
                <a:latin typeface="Aptos"/>
              </a:rPr>
              <a:t>Escopo acadêmico: protótipo funcional, modular e auditável — não é dispositivo médico validado.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6473880" y="1207080"/>
            <a:ext cx="452592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6656760" y="1389960"/>
            <a:ext cx="1005480" cy="255600"/>
          </a:xfrm>
          <a:prstGeom prst="roundRect">
            <a:avLst>
              <a:gd name="adj" fmla="val 50000"/>
            </a:avLst>
          </a:prstGeom>
          <a:solidFill>
            <a:srgbClr val="00A89D"/>
          </a:solidFill>
          <a:ln w="12700">
            <a:solidFill>
              <a:srgbClr val="00A8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6656760" y="1431000"/>
            <a:ext cx="1005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Detectar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7845480" y="1398960"/>
            <a:ext cx="28342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movimento intenso, queda suspeita e queda confirmada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6473880" y="2084760"/>
            <a:ext cx="452592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2"/>
          <p:cNvSpPr/>
          <p:nvPr/>
        </p:nvSpPr>
        <p:spPr>
          <a:xfrm>
            <a:off x="6656760" y="2267640"/>
            <a:ext cx="1005480" cy="255600"/>
          </a:xfrm>
          <a:prstGeom prst="roundRect">
            <a:avLst>
              <a:gd name="adj" fmla="val 50000"/>
            </a:avLst>
          </a:prstGeom>
          <a:solidFill>
            <a:srgbClr val="1E90FF"/>
          </a:solidFill>
          <a:ln w="12700">
            <a:solidFill>
              <a:srgbClr val="1E90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6656760" y="2309040"/>
            <a:ext cx="1005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Comunicar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7845480" y="2277000"/>
            <a:ext cx="28342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status, telemetria e eventos por MQTT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5"/>
          <p:cNvSpPr/>
          <p:nvPr/>
        </p:nvSpPr>
        <p:spPr>
          <a:xfrm>
            <a:off x="6473880" y="2962800"/>
            <a:ext cx="452592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6656760" y="3145680"/>
            <a:ext cx="1005480" cy="255600"/>
          </a:xfrm>
          <a:prstGeom prst="roundRect">
            <a:avLst>
              <a:gd name="adj" fmla="val 50000"/>
            </a:avLst>
          </a:prstGeom>
          <a:solidFill>
            <a:srgbClr val="48D597"/>
          </a:solidFill>
          <a:ln w="12700">
            <a:solidFill>
              <a:srgbClr val="48D59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6656760" y="3186720"/>
            <a:ext cx="1005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Persistir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8"/>
          <p:cNvSpPr/>
          <p:nvPr/>
        </p:nvSpPr>
        <p:spPr>
          <a:xfrm>
            <a:off x="7845480" y="3154680"/>
            <a:ext cx="28342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histórico em MySQL para auditoria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9"/>
          <p:cNvSpPr/>
          <p:nvPr/>
        </p:nvSpPr>
        <p:spPr>
          <a:xfrm>
            <a:off x="6473880" y="3840480"/>
            <a:ext cx="452592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0"/>
          <p:cNvSpPr/>
          <p:nvPr/>
        </p:nvSpPr>
        <p:spPr>
          <a:xfrm>
            <a:off x="6656760" y="4023360"/>
            <a:ext cx="1005480" cy="255600"/>
          </a:xfrm>
          <a:prstGeom prst="roundRect">
            <a:avLst>
              <a:gd name="adj" fmla="val 50000"/>
            </a:avLst>
          </a:prstGeom>
          <a:solidFill>
            <a:srgbClr val="F4A62A"/>
          </a:solidFill>
          <a:ln w="12700">
            <a:solidFill>
              <a:srgbClr val="F4A62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6656760" y="4064400"/>
            <a:ext cx="1005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Visualizar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7845480" y="4032360"/>
            <a:ext cx="28342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dashboard em tempo real com Socket.IO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3"/>
          <p:cNvSpPr/>
          <p:nvPr/>
        </p:nvSpPr>
        <p:spPr>
          <a:xfrm>
            <a:off x="6473880" y="4718160"/>
            <a:ext cx="452592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4"/>
          <p:cNvSpPr/>
          <p:nvPr/>
        </p:nvSpPr>
        <p:spPr>
          <a:xfrm>
            <a:off x="6656760" y="4901040"/>
            <a:ext cx="1005480" cy="255600"/>
          </a:xfrm>
          <a:prstGeom prst="roundRect">
            <a:avLst>
              <a:gd name="adj" fmla="val 50000"/>
            </a:avLst>
          </a:prstGeom>
          <a:solidFill>
            <a:srgbClr val="C9213A"/>
          </a:solidFill>
          <a:ln w="12700">
            <a:solidFill>
              <a:srgbClr val="C9213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6656760" y="4942440"/>
            <a:ext cx="100548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Responder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6"/>
          <p:cNvSpPr/>
          <p:nvPr/>
        </p:nvSpPr>
        <p:spPr>
          <a:xfrm>
            <a:off x="7845480" y="4910400"/>
            <a:ext cx="28342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alertas, confirmação, resolução e exportação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7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8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530280" y="3841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ESTRUTURA DO SISTEMA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511920" y="6584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Metodologia: arquitetura em camadas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2203560" y="3209400"/>
            <a:ext cx="539640" cy="360"/>
          </a:xfrm>
          <a:prstGeom prst="line">
            <a:avLst/>
          </a:prstGeom>
          <a:ln w="2794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5"/>
          <p:cNvSpPr/>
          <p:nvPr/>
        </p:nvSpPr>
        <p:spPr>
          <a:xfrm>
            <a:off x="4370760" y="3209400"/>
            <a:ext cx="539280" cy="360"/>
          </a:xfrm>
          <a:prstGeom prst="line">
            <a:avLst/>
          </a:prstGeom>
          <a:ln w="2794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6537960" y="3209400"/>
            <a:ext cx="539280" cy="360"/>
          </a:xfrm>
          <a:prstGeom prst="line">
            <a:avLst/>
          </a:prstGeom>
          <a:ln w="2794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8704800" y="3209400"/>
            <a:ext cx="539640" cy="360"/>
          </a:xfrm>
          <a:prstGeom prst="line">
            <a:avLst/>
          </a:prstGeom>
          <a:ln w="2794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621720" y="2788920"/>
            <a:ext cx="153576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758880" y="3108960"/>
            <a:ext cx="126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ESP32 +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MPU6050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0"/>
          <p:cNvSpPr/>
          <p:nvPr/>
        </p:nvSpPr>
        <p:spPr>
          <a:xfrm>
            <a:off x="621720" y="3703320"/>
            <a:ext cx="1535760" cy="72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1"/>
          <p:cNvSpPr/>
          <p:nvPr/>
        </p:nvSpPr>
        <p:spPr>
          <a:xfrm>
            <a:off x="2788920" y="2788920"/>
            <a:ext cx="153576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2926080" y="3108960"/>
            <a:ext cx="126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Broker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MQTT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3"/>
          <p:cNvSpPr/>
          <p:nvPr/>
        </p:nvSpPr>
        <p:spPr>
          <a:xfrm>
            <a:off x="2788920" y="3703320"/>
            <a:ext cx="1535760" cy="72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4"/>
          <p:cNvSpPr/>
          <p:nvPr/>
        </p:nvSpPr>
        <p:spPr>
          <a:xfrm>
            <a:off x="4956120" y="2788920"/>
            <a:ext cx="153576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5093280" y="3108960"/>
            <a:ext cx="126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Backend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Node.js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6"/>
          <p:cNvSpPr/>
          <p:nvPr/>
        </p:nvSpPr>
        <p:spPr>
          <a:xfrm>
            <a:off x="4956120" y="3703320"/>
            <a:ext cx="1535760" cy="72720"/>
          </a:xfrm>
          <a:prstGeom prst="rect">
            <a:avLst/>
          </a:prstGeom>
          <a:solidFill>
            <a:srgbClr val="48D597"/>
          </a:solidFill>
          <a:ln w="12700">
            <a:solidFill>
              <a:srgbClr val="48D5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7"/>
          <p:cNvSpPr/>
          <p:nvPr/>
        </p:nvSpPr>
        <p:spPr>
          <a:xfrm>
            <a:off x="7123320" y="2788920"/>
            <a:ext cx="153576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8"/>
          <p:cNvSpPr/>
          <p:nvPr/>
        </p:nvSpPr>
        <p:spPr>
          <a:xfrm>
            <a:off x="7260480" y="3108960"/>
            <a:ext cx="126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MySQL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Histórico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7123320" y="3703320"/>
            <a:ext cx="1535760" cy="72720"/>
          </a:xfrm>
          <a:prstGeom prst="rect">
            <a:avLst/>
          </a:prstGeom>
          <a:solidFill>
            <a:srgbClr val="F4A62A"/>
          </a:solidFill>
          <a:ln w="12700">
            <a:solidFill>
              <a:srgbClr val="F4A6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0"/>
          <p:cNvSpPr/>
          <p:nvPr/>
        </p:nvSpPr>
        <p:spPr>
          <a:xfrm>
            <a:off x="9290160" y="2788920"/>
            <a:ext cx="153576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9427320" y="3108960"/>
            <a:ext cx="1261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Dashboard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Web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2"/>
          <p:cNvSpPr/>
          <p:nvPr/>
        </p:nvSpPr>
        <p:spPr>
          <a:xfrm>
            <a:off x="9290160" y="3703320"/>
            <a:ext cx="1535760" cy="72720"/>
          </a:xfrm>
          <a:prstGeom prst="rect">
            <a:avLst/>
          </a:prstGeom>
          <a:solidFill>
            <a:srgbClr val="4731D8"/>
          </a:solidFill>
          <a:ln w="12700">
            <a:solidFill>
              <a:srgbClr val="4731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3"/>
          <p:cNvSpPr/>
          <p:nvPr/>
        </p:nvSpPr>
        <p:spPr>
          <a:xfrm>
            <a:off x="621720" y="1508760"/>
            <a:ext cx="3520080" cy="8409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4"/>
          <p:cNvSpPr/>
          <p:nvPr/>
        </p:nvSpPr>
        <p:spPr>
          <a:xfrm>
            <a:off x="877680" y="17190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Decisão crítica no firmware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5"/>
          <p:cNvSpPr/>
          <p:nvPr/>
        </p:nvSpPr>
        <p:spPr>
          <a:xfrm>
            <a:off x="4343400" y="1508760"/>
            <a:ext cx="3520080" cy="8409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6"/>
          <p:cNvSpPr/>
          <p:nvPr/>
        </p:nvSpPr>
        <p:spPr>
          <a:xfrm>
            <a:off x="4617720" y="17190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Backend persiste e distribui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7"/>
          <p:cNvSpPr/>
          <p:nvPr/>
        </p:nvSpPr>
        <p:spPr>
          <a:xfrm>
            <a:off x="8065080" y="1508760"/>
            <a:ext cx="3428640" cy="8409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8"/>
          <p:cNvSpPr/>
          <p:nvPr/>
        </p:nvSpPr>
        <p:spPr>
          <a:xfrm>
            <a:off x="8339400" y="171900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Interface mostra operação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9"/>
          <p:cNvSpPr/>
          <p:nvPr/>
        </p:nvSpPr>
        <p:spPr>
          <a:xfrm>
            <a:off x="804600" y="4663440"/>
            <a:ext cx="3840120" cy="1142640"/>
          </a:xfrm>
          <a:prstGeom prst="roundRect">
            <a:avLst>
              <a:gd name="adj" fmla="val 9600"/>
            </a:avLst>
          </a:prstGeom>
          <a:solidFill>
            <a:srgbClr val="081923"/>
          </a:solidFill>
          <a:ln w="12700">
            <a:solidFill>
              <a:srgbClr val="17323E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0"/>
          <p:cNvSpPr/>
          <p:nvPr/>
        </p:nvSpPr>
        <p:spPr>
          <a:xfrm>
            <a:off x="1005840" y="4827960"/>
            <a:ext cx="3428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7FF1E9"/>
                </a:solidFill>
                <a:effectLst/>
                <a:uFillTx/>
                <a:latin typeface="Aptos"/>
              </a:rPr>
              <a:t>TÓPICOS MQTT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1"/>
          <p:cNvSpPr/>
          <p:nvPr/>
        </p:nvSpPr>
        <p:spPr>
          <a:xfrm>
            <a:off x="1024200" y="5102280"/>
            <a:ext cx="34012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queda/devices/{deviceId}/status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queda/devices/{deviceId}/telemetry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queda/devices/{deviceId}/events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2"/>
          <p:cNvSpPr/>
          <p:nvPr/>
        </p:nvSpPr>
        <p:spPr>
          <a:xfrm>
            <a:off x="5047560" y="4956120"/>
            <a:ext cx="53946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Socket.IO atualiza o painel em tempo real; eventos e telemetria ficam persistidos para auditoria.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3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4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530280" y="3841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PROTÓTIPO EMBARCADO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511920" y="6584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Metodologia: hardware e ligações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567000" y="1325880"/>
            <a:ext cx="2925720" cy="45259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960120" y="169164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ESP32 DevKit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1134000" y="2212920"/>
            <a:ext cx="1737000" cy="2148480"/>
          </a:xfrm>
          <a:prstGeom prst="roundRect">
            <a:avLst>
              <a:gd name="adj" fmla="val 6316"/>
            </a:avLst>
          </a:prstGeom>
          <a:solidFill>
            <a:srgbClr val="071923"/>
          </a:solidFill>
          <a:ln w="15240">
            <a:solidFill>
              <a:srgbClr val="0D34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1334880" y="2761560"/>
            <a:ext cx="13345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CFFAF4"/>
                </a:solidFill>
                <a:effectLst/>
                <a:uFillTx/>
                <a:latin typeface="Aptos"/>
              </a:rPr>
              <a:t>Wi‑Fi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CFFAF4"/>
                </a:solidFill>
                <a:effectLst/>
                <a:uFillTx/>
                <a:latin typeface="Aptos"/>
              </a:rPr>
              <a:t>MQTT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CFFAF4"/>
                </a:solidFill>
                <a:effectLst/>
                <a:uFillTx/>
                <a:latin typeface="Aptos"/>
              </a:rPr>
              <a:t>Lógica local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 flipV="1">
            <a:off x="3584160" y="2514600"/>
            <a:ext cx="567000" cy="502920"/>
          </a:xfrm>
          <a:prstGeom prst="line">
            <a:avLst/>
          </a:prstGeom>
          <a:ln w="2540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3584160" y="3291840"/>
            <a:ext cx="567000" cy="502920"/>
          </a:xfrm>
          <a:prstGeom prst="line">
            <a:avLst/>
          </a:prstGeom>
          <a:ln w="2540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4279320" y="1508760"/>
            <a:ext cx="2880000" cy="159984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4572000" y="17830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MPU6050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4572000" y="217620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acelerômetro + giroscópio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3"/>
          <p:cNvSpPr/>
          <p:nvPr/>
        </p:nvSpPr>
        <p:spPr>
          <a:xfrm>
            <a:off x="4279320" y="3657600"/>
            <a:ext cx="2880000" cy="159984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4572000" y="393192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SOS / buzzer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4526280" y="4316040"/>
            <a:ext cx="22856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alerta local apenas em queda confirmada ou SOS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6"/>
          <p:cNvSpPr/>
          <p:nvPr/>
        </p:nvSpPr>
        <p:spPr>
          <a:xfrm>
            <a:off x="7607880" y="1481400"/>
            <a:ext cx="3913200" cy="3840120"/>
          </a:xfrm>
          <a:prstGeom prst="roundRect">
            <a:avLst>
              <a:gd name="adj" fmla="val 2857"/>
            </a:avLst>
          </a:prstGeom>
          <a:solidFill>
            <a:srgbClr val="081923"/>
          </a:solidFill>
          <a:ln w="12700">
            <a:solidFill>
              <a:srgbClr val="17323E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7809120" y="1645920"/>
            <a:ext cx="3501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7FF1E9"/>
                </a:solidFill>
                <a:effectLst/>
                <a:uFillTx/>
                <a:latin typeface="Aptos"/>
              </a:rPr>
              <a:t>PINAGEM PRINCIPAL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7827120" y="1920240"/>
            <a:ext cx="3474360" cy="327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MPU6050 VCC  -&gt; ESP32 3V3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MPU6050 GND  -&gt; ESP32 GND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MPU6050 SDA  -&gt; ESP32 GPIO 21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MPU6050 SCL  -&gt; ESP32 GPIO 22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BUZZER_PIN    = GPIO 25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SOS_BUTTON    = GPIO 27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530280" y="3841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MÁQUINA DE ESTADOS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"/>
          <p:cNvSpPr/>
          <p:nvPr/>
        </p:nvSpPr>
        <p:spPr>
          <a:xfrm>
            <a:off x="511920" y="6584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Metodologia: algoritmo de detecção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2651760" y="2715480"/>
            <a:ext cx="640080" cy="360"/>
          </a:xfrm>
          <a:prstGeom prst="line">
            <a:avLst/>
          </a:prstGeom>
          <a:ln w="3048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"/>
          <p:cNvSpPr/>
          <p:nvPr/>
        </p:nvSpPr>
        <p:spPr>
          <a:xfrm>
            <a:off x="5349240" y="2715480"/>
            <a:ext cx="640080" cy="360"/>
          </a:xfrm>
          <a:prstGeom prst="line">
            <a:avLst/>
          </a:prstGeom>
          <a:ln w="3048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6"/>
          <p:cNvSpPr/>
          <p:nvPr/>
        </p:nvSpPr>
        <p:spPr>
          <a:xfrm>
            <a:off x="8046720" y="2715480"/>
            <a:ext cx="640080" cy="360"/>
          </a:xfrm>
          <a:prstGeom prst="line">
            <a:avLst/>
          </a:prstGeom>
          <a:ln w="3048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7"/>
          <p:cNvSpPr/>
          <p:nvPr/>
        </p:nvSpPr>
        <p:spPr>
          <a:xfrm>
            <a:off x="713160" y="2057400"/>
            <a:ext cx="2011320" cy="13255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8"/>
          <p:cNvSpPr/>
          <p:nvPr/>
        </p:nvSpPr>
        <p:spPr>
          <a:xfrm>
            <a:off x="896040" y="2258640"/>
            <a:ext cx="383760" cy="38376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896040" y="2359080"/>
            <a:ext cx="383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0"/>
          <p:cNvSpPr/>
          <p:nvPr/>
        </p:nvSpPr>
        <p:spPr>
          <a:xfrm>
            <a:off x="1371600" y="228600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Impacto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1"/>
          <p:cNvSpPr/>
          <p:nvPr/>
        </p:nvSpPr>
        <p:spPr>
          <a:xfrm>
            <a:off x="932760" y="277056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pico de aceleração e/ou giro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2"/>
          <p:cNvSpPr/>
          <p:nvPr/>
        </p:nvSpPr>
        <p:spPr>
          <a:xfrm>
            <a:off x="3410640" y="2057400"/>
            <a:ext cx="2011320" cy="13255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3"/>
          <p:cNvSpPr/>
          <p:nvPr/>
        </p:nvSpPr>
        <p:spPr>
          <a:xfrm>
            <a:off x="3593520" y="2258640"/>
            <a:ext cx="383760" cy="38376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4"/>
          <p:cNvSpPr/>
          <p:nvPr/>
        </p:nvSpPr>
        <p:spPr>
          <a:xfrm>
            <a:off x="3593520" y="2359080"/>
            <a:ext cx="383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5"/>
          <p:cNvSpPr/>
          <p:nvPr/>
        </p:nvSpPr>
        <p:spPr>
          <a:xfrm>
            <a:off x="4069080" y="228600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Orientação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6"/>
          <p:cNvSpPr/>
          <p:nvPr/>
        </p:nvSpPr>
        <p:spPr>
          <a:xfrm>
            <a:off x="3630240" y="277056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mudança de postura após o impacto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7"/>
          <p:cNvSpPr/>
          <p:nvPr/>
        </p:nvSpPr>
        <p:spPr>
          <a:xfrm>
            <a:off x="6108120" y="2057400"/>
            <a:ext cx="2011320" cy="13255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8"/>
          <p:cNvSpPr/>
          <p:nvPr/>
        </p:nvSpPr>
        <p:spPr>
          <a:xfrm>
            <a:off x="6291000" y="2258640"/>
            <a:ext cx="383760" cy="383760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9"/>
          <p:cNvSpPr/>
          <p:nvPr/>
        </p:nvSpPr>
        <p:spPr>
          <a:xfrm>
            <a:off x="6291000" y="2359080"/>
            <a:ext cx="383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0"/>
          <p:cNvSpPr/>
          <p:nvPr/>
        </p:nvSpPr>
        <p:spPr>
          <a:xfrm>
            <a:off x="6766560" y="228600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Imobilidade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1"/>
          <p:cNvSpPr/>
          <p:nvPr/>
        </p:nvSpPr>
        <p:spPr>
          <a:xfrm>
            <a:off x="6327720" y="277056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repouso por uma janela mínima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2"/>
          <p:cNvSpPr/>
          <p:nvPr/>
        </p:nvSpPr>
        <p:spPr>
          <a:xfrm>
            <a:off x="8805600" y="2057400"/>
            <a:ext cx="2011320" cy="13255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3"/>
          <p:cNvSpPr/>
          <p:nvPr/>
        </p:nvSpPr>
        <p:spPr>
          <a:xfrm>
            <a:off x="8988480" y="2258640"/>
            <a:ext cx="383760" cy="383760"/>
          </a:xfrm>
          <a:prstGeom prst="ellipse">
            <a:avLst/>
          </a:prstGeom>
          <a:solidFill>
            <a:srgbClr val="C9213A"/>
          </a:solidFill>
          <a:ln w="12700">
            <a:solidFill>
              <a:srgbClr val="C921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4"/>
          <p:cNvSpPr/>
          <p:nvPr/>
        </p:nvSpPr>
        <p:spPr>
          <a:xfrm>
            <a:off x="8988480" y="2359080"/>
            <a:ext cx="3837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5"/>
          <p:cNvSpPr/>
          <p:nvPr/>
        </p:nvSpPr>
        <p:spPr>
          <a:xfrm>
            <a:off x="9464040" y="228600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Decisão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6"/>
          <p:cNvSpPr/>
          <p:nvPr/>
        </p:nvSpPr>
        <p:spPr>
          <a:xfrm>
            <a:off x="9025200" y="277056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movimento, suspeita ou queda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7"/>
          <p:cNvSpPr/>
          <p:nvPr/>
        </p:nvSpPr>
        <p:spPr>
          <a:xfrm>
            <a:off x="822960" y="4069080"/>
            <a:ext cx="4754520" cy="1663920"/>
          </a:xfrm>
          <a:prstGeom prst="roundRect">
            <a:avLst>
              <a:gd name="adj" fmla="val 6593"/>
            </a:avLst>
          </a:prstGeom>
          <a:solidFill>
            <a:srgbClr val="081923"/>
          </a:solidFill>
          <a:ln w="12700">
            <a:solidFill>
              <a:srgbClr val="17323E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8"/>
          <p:cNvSpPr/>
          <p:nvPr/>
        </p:nvSpPr>
        <p:spPr>
          <a:xfrm>
            <a:off x="1024200" y="4233600"/>
            <a:ext cx="4343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7FF1E9"/>
                </a:solidFill>
                <a:effectLst/>
                <a:uFillTx/>
                <a:latin typeface="Aptos"/>
              </a:rPr>
              <a:t>REGRA PRINCIPAL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9"/>
          <p:cNvSpPr/>
          <p:nvPr/>
        </p:nvSpPr>
        <p:spPr>
          <a:xfrm>
            <a:off x="1042560" y="4507920"/>
            <a:ext cx="43156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if (impacto &amp;&amp; orientacao &amp;&amp; imobilidade)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    eventType = "fall_detected";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else if (impacto &amp;&amp; gyroAlto)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    eventType = "fall_suspected";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else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    eventType = "movement_detected";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buzzer: apenas fall_detected ou SOS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0"/>
          <p:cNvSpPr/>
          <p:nvPr/>
        </p:nvSpPr>
        <p:spPr>
          <a:xfrm>
            <a:off x="5989320" y="4069080"/>
            <a:ext cx="5166000" cy="166392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1"/>
          <p:cNvSpPr/>
          <p:nvPr/>
        </p:nvSpPr>
        <p:spPr>
          <a:xfrm>
            <a:off x="6309360" y="4361760"/>
            <a:ext cx="23770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Modo Demo apresentação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2"/>
          <p:cNvSpPr/>
          <p:nvPr/>
        </p:nvSpPr>
        <p:spPr>
          <a:xfrm>
            <a:off x="6309360" y="487368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3"/>
          <p:cNvSpPr/>
          <p:nvPr/>
        </p:nvSpPr>
        <p:spPr>
          <a:xfrm>
            <a:off x="6473880" y="480060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Leitura interna do sensor: 25 ms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4"/>
          <p:cNvSpPr/>
          <p:nvPr/>
        </p:nvSpPr>
        <p:spPr>
          <a:xfrm>
            <a:off x="6309360" y="526680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5"/>
          <p:cNvSpPr/>
          <p:nvPr/>
        </p:nvSpPr>
        <p:spPr>
          <a:xfrm>
            <a:off x="6473880" y="519372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Publicação MQTT: 500 ms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6"/>
          <p:cNvSpPr/>
          <p:nvPr/>
        </p:nvSpPr>
        <p:spPr>
          <a:xfrm>
            <a:off x="8778240" y="487368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7"/>
          <p:cNvSpPr/>
          <p:nvPr/>
        </p:nvSpPr>
        <p:spPr>
          <a:xfrm>
            <a:off x="8942760" y="480060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Janela visual: 120 amostras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8"/>
          <p:cNvSpPr/>
          <p:nvPr/>
        </p:nvSpPr>
        <p:spPr>
          <a:xfrm>
            <a:off x="8778240" y="5266800"/>
            <a:ext cx="82080" cy="82080"/>
          </a:xfrm>
          <a:prstGeom prst="ellipse">
            <a:avLst/>
          </a:prstGeom>
          <a:solidFill>
            <a:srgbClr val="C9213A"/>
          </a:solidFill>
          <a:ln w="12700">
            <a:solidFill>
              <a:srgbClr val="C921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9"/>
          <p:cNvSpPr/>
          <p:nvPr/>
        </p:nvSpPr>
        <p:spPr>
          <a:xfrm>
            <a:off x="8942760" y="519372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Uso acadêmico, não clínico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0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1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530280" y="3841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CAMADA DE SOFTWARE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511920" y="6584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Metodologia: backend, segurança e dados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"/>
          <p:cNvSpPr/>
          <p:nvPr/>
        </p:nvSpPr>
        <p:spPr>
          <a:xfrm>
            <a:off x="1983960" y="2039040"/>
            <a:ext cx="393480" cy="360"/>
          </a:xfrm>
          <a:prstGeom prst="line">
            <a:avLst/>
          </a:prstGeom>
          <a:ln w="2794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5"/>
          <p:cNvSpPr/>
          <p:nvPr/>
        </p:nvSpPr>
        <p:spPr>
          <a:xfrm>
            <a:off x="3767040" y="2039040"/>
            <a:ext cx="393480" cy="360"/>
          </a:xfrm>
          <a:prstGeom prst="line">
            <a:avLst/>
          </a:prstGeom>
          <a:ln w="2794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6"/>
          <p:cNvSpPr/>
          <p:nvPr/>
        </p:nvSpPr>
        <p:spPr>
          <a:xfrm>
            <a:off x="5550120" y="2039040"/>
            <a:ext cx="393480" cy="360"/>
          </a:xfrm>
          <a:prstGeom prst="line">
            <a:avLst/>
          </a:prstGeom>
          <a:ln w="27940">
            <a:solidFill>
              <a:srgbClr val="00A89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"/>
          <p:cNvSpPr/>
          <p:nvPr/>
        </p:nvSpPr>
        <p:spPr>
          <a:xfrm>
            <a:off x="658440" y="1508760"/>
            <a:ext cx="132552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8"/>
          <p:cNvSpPr/>
          <p:nvPr/>
        </p:nvSpPr>
        <p:spPr>
          <a:xfrm>
            <a:off x="749880" y="176472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Routes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9"/>
          <p:cNvSpPr/>
          <p:nvPr/>
        </p:nvSpPr>
        <p:spPr>
          <a:xfrm>
            <a:off x="749880" y="2130480"/>
            <a:ext cx="1142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rotas HTTP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0"/>
          <p:cNvSpPr/>
          <p:nvPr/>
        </p:nvSpPr>
        <p:spPr>
          <a:xfrm>
            <a:off x="2441520" y="1508760"/>
            <a:ext cx="132552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1"/>
          <p:cNvSpPr/>
          <p:nvPr/>
        </p:nvSpPr>
        <p:spPr>
          <a:xfrm>
            <a:off x="2532960" y="176472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Controllers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2"/>
          <p:cNvSpPr/>
          <p:nvPr/>
        </p:nvSpPr>
        <p:spPr>
          <a:xfrm>
            <a:off x="2532960" y="2130480"/>
            <a:ext cx="1142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entrada e validação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3"/>
          <p:cNvSpPr/>
          <p:nvPr/>
        </p:nvSpPr>
        <p:spPr>
          <a:xfrm>
            <a:off x="4224600" y="1508760"/>
            <a:ext cx="132552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4"/>
          <p:cNvSpPr/>
          <p:nvPr/>
        </p:nvSpPr>
        <p:spPr>
          <a:xfrm>
            <a:off x="4316040" y="176472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Services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4316040" y="2130480"/>
            <a:ext cx="1142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regras de negócio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6"/>
          <p:cNvSpPr/>
          <p:nvPr/>
        </p:nvSpPr>
        <p:spPr>
          <a:xfrm>
            <a:off x="6007680" y="1508760"/>
            <a:ext cx="132552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6099120" y="176472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MySQL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8"/>
          <p:cNvSpPr/>
          <p:nvPr/>
        </p:nvSpPr>
        <p:spPr>
          <a:xfrm>
            <a:off x="6099120" y="2130480"/>
            <a:ext cx="1142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histórico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9"/>
          <p:cNvSpPr/>
          <p:nvPr/>
        </p:nvSpPr>
        <p:spPr>
          <a:xfrm>
            <a:off x="914400" y="3063240"/>
            <a:ext cx="248688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1078920" y="3182040"/>
            <a:ext cx="2011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JWT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1078920" y="3429000"/>
            <a:ext cx="2011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sessão web protegida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2"/>
          <p:cNvSpPr/>
          <p:nvPr/>
        </p:nvSpPr>
        <p:spPr>
          <a:xfrm>
            <a:off x="3840480" y="3063240"/>
            <a:ext cx="248688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3"/>
          <p:cNvSpPr/>
          <p:nvPr/>
        </p:nvSpPr>
        <p:spPr>
          <a:xfrm>
            <a:off x="4005000" y="3182040"/>
            <a:ext cx="2011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Roles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4"/>
          <p:cNvSpPr/>
          <p:nvPr/>
        </p:nvSpPr>
        <p:spPr>
          <a:xfrm>
            <a:off x="4005000" y="3429000"/>
            <a:ext cx="2011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permissões por perfil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5"/>
          <p:cNvSpPr/>
          <p:nvPr/>
        </p:nvSpPr>
        <p:spPr>
          <a:xfrm>
            <a:off x="914400" y="3904560"/>
            <a:ext cx="248688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6"/>
          <p:cNvSpPr/>
          <p:nvPr/>
        </p:nvSpPr>
        <p:spPr>
          <a:xfrm>
            <a:off x="1078920" y="4023360"/>
            <a:ext cx="2011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X-Organization-Id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7"/>
          <p:cNvSpPr/>
          <p:nvPr/>
        </p:nvSpPr>
        <p:spPr>
          <a:xfrm>
            <a:off x="1078920" y="4270320"/>
            <a:ext cx="2011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escopo multi-tenant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8"/>
          <p:cNvSpPr/>
          <p:nvPr/>
        </p:nvSpPr>
        <p:spPr>
          <a:xfrm>
            <a:off x="3840480" y="3904560"/>
            <a:ext cx="248688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9"/>
          <p:cNvSpPr/>
          <p:nvPr/>
        </p:nvSpPr>
        <p:spPr>
          <a:xfrm>
            <a:off x="4005000" y="4023360"/>
            <a:ext cx="2011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Socket.IO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0"/>
          <p:cNvSpPr/>
          <p:nvPr/>
        </p:nvSpPr>
        <p:spPr>
          <a:xfrm>
            <a:off x="4005000" y="4270320"/>
            <a:ext cx="20113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eventos em tempo real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31"/>
          <p:cNvSpPr/>
          <p:nvPr/>
        </p:nvSpPr>
        <p:spPr>
          <a:xfrm>
            <a:off x="8229600" y="1408320"/>
            <a:ext cx="3154320" cy="4160160"/>
          </a:xfrm>
          <a:prstGeom prst="roundRect">
            <a:avLst>
              <a:gd name="adj" fmla="val 3478"/>
            </a:avLst>
          </a:prstGeom>
          <a:solidFill>
            <a:srgbClr val="081923"/>
          </a:solidFill>
          <a:ln w="12700">
            <a:solidFill>
              <a:srgbClr val="17323E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2"/>
          <p:cNvSpPr/>
          <p:nvPr/>
        </p:nvSpPr>
        <p:spPr>
          <a:xfrm>
            <a:off x="8430840" y="1572840"/>
            <a:ext cx="27428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7FF1E9"/>
                </a:solidFill>
                <a:effectLst/>
                <a:uFillTx/>
                <a:latin typeface="Aptos"/>
              </a:rPr>
              <a:t>FLUXOS DO BACKEND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3"/>
          <p:cNvSpPr/>
          <p:nvPr/>
        </p:nvSpPr>
        <p:spPr>
          <a:xfrm>
            <a:off x="8449200" y="1847160"/>
            <a:ext cx="2715480" cy="359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POST /api/auth/login  -&gt; JWT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GET /api/devices -&gt; Bearer token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X-Organization-Id: &lt;tenant&gt;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MQTT separado da sessão web: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E6FBFF"/>
                </a:solidFill>
                <a:effectLst/>
                <a:uFillTx/>
                <a:latin typeface="Consolas"/>
                <a:ea typeface="Consolas"/>
              </a:rPr>
              <a:t>status / telemetry / events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4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5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530280" y="3841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DASHBOARD WEB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511920" y="6584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Metodologia: interface e operação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"/>
          <p:cNvSpPr/>
          <p:nvPr/>
        </p:nvSpPr>
        <p:spPr>
          <a:xfrm>
            <a:off x="658440" y="1298520"/>
            <a:ext cx="4955760" cy="4434480"/>
          </a:xfrm>
          <a:prstGeom prst="roundRect">
            <a:avLst>
              <a:gd name="adj" fmla="val 2474"/>
            </a:avLst>
          </a:prstGeom>
          <a:solidFill>
            <a:srgbClr val="071923"/>
          </a:solidFill>
          <a:ln w="12700">
            <a:solidFill>
              <a:srgbClr val="071923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960120" y="16459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Fluxo operacional no painel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6"/>
          <p:cNvSpPr/>
          <p:nvPr/>
        </p:nvSpPr>
        <p:spPr>
          <a:xfrm>
            <a:off x="960120" y="2139840"/>
            <a:ext cx="319680" cy="3196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7"/>
          <p:cNvSpPr/>
          <p:nvPr/>
        </p:nvSpPr>
        <p:spPr>
          <a:xfrm>
            <a:off x="960120" y="2217600"/>
            <a:ext cx="31968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1417320" y="21214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E7FBFF"/>
                </a:solidFill>
                <a:effectLst/>
                <a:uFillTx/>
                <a:latin typeface="Aptos"/>
              </a:rPr>
              <a:t>Login com JWT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9"/>
          <p:cNvSpPr/>
          <p:nvPr/>
        </p:nvSpPr>
        <p:spPr>
          <a:xfrm>
            <a:off x="960120" y="2752200"/>
            <a:ext cx="319680" cy="3196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0"/>
          <p:cNvSpPr/>
          <p:nvPr/>
        </p:nvSpPr>
        <p:spPr>
          <a:xfrm>
            <a:off x="960120" y="2829960"/>
            <a:ext cx="31968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1"/>
          <p:cNvSpPr/>
          <p:nvPr/>
        </p:nvSpPr>
        <p:spPr>
          <a:xfrm>
            <a:off x="1417320" y="273420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E7FBFF"/>
                </a:solidFill>
                <a:effectLst/>
                <a:uFillTx/>
                <a:latin typeface="Aptos"/>
              </a:rPr>
              <a:t>Paciente e device vinculados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2"/>
          <p:cNvSpPr/>
          <p:nvPr/>
        </p:nvSpPr>
        <p:spPr>
          <a:xfrm>
            <a:off x="960120" y="3364920"/>
            <a:ext cx="319680" cy="3196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3"/>
          <p:cNvSpPr/>
          <p:nvPr/>
        </p:nvSpPr>
        <p:spPr>
          <a:xfrm>
            <a:off x="960120" y="3442680"/>
            <a:ext cx="31968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4"/>
          <p:cNvSpPr/>
          <p:nvPr/>
        </p:nvSpPr>
        <p:spPr>
          <a:xfrm>
            <a:off x="1417320" y="334656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E7FBFF"/>
                </a:solidFill>
                <a:effectLst/>
                <a:uFillTx/>
                <a:latin typeface="Aptos"/>
              </a:rPr>
              <a:t>Telemetria e status online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5"/>
          <p:cNvSpPr/>
          <p:nvPr/>
        </p:nvSpPr>
        <p:spPr>
          <a:xfrm>
            <a:off x="960120" y="3977640"/>
            <a:ext cx="319680" cy="3196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6"/>
          <p:cNvSpPr/>
          <p:nvPr/>
        </p:nvSpPr>
        <p:spPr>
          <a:xfrm>
            <a:off x="960120" y="4055400"/>
            <a:ext cx="31968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7"/>
          <p:cNvSpPr/>
          <p:nvPr/>
        </p:nvSpPr>
        <p:spPr>
          <a:xfrm>
            <a:off x="1417320" y="39592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E7FBFF"/>
                </a:solidFill>
                <a:effectLst/>
                <a:uFillTx/>
                <a:latin typeface="Aptos"/>
              </a:rPr>
              <a:t>Alerta entra na fila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8"/>
          <p:cNvSpPr/>
          <p:nvPr/>
        </p:nvSpPr>
        <p:spPr>
          <a:xfrm>
            <a:off x="960120" y="4590360"/>
            <a:ext cx="319680" cy="3196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9"/>
          <p:cNvSpPr/>
          <p:nvPr/>
        </p:nvSpPr>
        <p:spPr>
          <a:xfrm>
            <a:off x="960120" y="4668120"/>
            <a:ext cx="31968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0"/>
          <p:cNvSpPr/>
          <p:nvPr/>
        </p:nvSpPr>
        <p:spPr>
          <a:xfrm>
            <a:off x="1417320" y="457200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E7FBFF"/>
                </a:solidFill>
                <a:effectLst/>
                <a:uFillTx/>
                <a:latin typeface="Aptos"/>
              </a:rPr>
              <a:t>Atender, resolver ou cancelar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1"/>
          <p:cNvSpPr/>
          <p:nvPr/>
        </p:nvSpPr>
        <p:spPr>
          <a:xfrm>
            <a:off x="6400800" y="1234440"/>
            <a:ext cx="4800240" cy="45259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2"/>
          <p:cNvSpPr/>
          <p:nvPr/>
        </p:nvSpPr>
        <p:spPr>
          <a:xfrm>
            <a:off x="6720840" y="15912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Monitor de Quedas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3"/>
          <p:cNvSpPr/>
          <p:nvPr/>
        </p:nvSpPr>
        <p:spPr>
          <a:xfrm>
            <a:off x="9372600" y="1618560"/>
            <a:ext cx="712800" cy="255600"/>
          </a:xfrm>
          <a:prstGeom prst="roundRect">
            <a:avLst>
              <a:gd name="adj" fmla="val 50000"/>
            </a:avLst>
          </a:prstGeom>
          <a:solidFill>
            <a:srgbClr val="00A89D"/>
          </a:solidFill>
          <a:ln w="12700">
            <a:solidFill>
              <a:srgbClr val="00A89D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4"/>
          <p:cNvSpPr/>
          <p:nvPr/>
        </p:nvSpPr>
        <p:spPr>
          <a:xfrm>
            <a:off x="9372600" y="1659600"/>
            <a:ext cx="7128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ONLINE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5"/>
          <p:cNvSpPr/>
          <p:nvPr/>
        </p:nvSpPr>
        <p:spPr>
          <a:xfrm>
            <a:off x="10222920" y="1618560"/>
            <a:ext cx="804240" cy="255600"/>
          </a:xfrm>
          <a:prstGeom prst="roundRect">
            <a:avLst>
              <a:gd name="adj" fmla="val 50000"/>
            </a:avLst>
          </a:prstGeom>
          <a:solidFill>
            <a:srgbClr val="F4A62A"/>
          </a:solidFill>
          <a:ln w="12700">
            <a:solidFill>
              <a:srgbClr val="F4A62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6"/>
          <p:cNvSpPr/>
          <p:nvPr/>
        </p:nvSpPr>
        <p:spPr>
          <a:xfrm>
            <a:off x="10222920" y="1659600"/>
            <a:ext cx="8042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MODO DEMO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7"/>
          <p:cNvSpPr/>
          <p:nvPr/>
        </p:nvSpPr>
        <p:spPr>
          <a:xfrm>
            <a:off x="6720840" y="2194560"/>
            <a:ext cx="132552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8"/>
          <p:cNvSpPr/>
          <p:nvPr/>
        </p:nvSpPr>
        <p:spPr>
          <a:xfrm>
            <a:off x="6867000" y="2331720"/>
            <a:ext cx="103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0A89D"/>
                </a:solidFill>
                <a:effectLst/>
                <a:uFillTx/>
                <a:latin typeface="Aptos Display"/>
                <a:ea typeface="Aptos Display"/>
              </a:rPr>
              <a:t>95%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9"/>
          <p:cNvSpPr/>
          <p:nvPr/>
        </p:nvSpPr>
        <p:spPr>
          <a:xfrm>
            <a:off x="6867000" y="2670120"/>
            <a:ext cx="103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bateria estimada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0"/>
          <p:cNvSpPr/>
          <p:nvPr/>
        </p:nvSpPr>
        <p:spPr>
          <a:xfrm>
            <a:off x="8211240" y="2194560"/>
            <a:ext cx="132552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1"/>
          <p:cNvSpPr/>
          <p:nvPr/>
        </p:nvSpPr>
        <p:spPr>
          <a:xfrm>
            <a:off x="8357760" y="2331720"/>
            <a:ext cx="103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90FF"/>
                </a:solidFill>
                <a:effectLst/>
                <a:uFillTx/>
                <a:latin typeface="Aptos Display"/>
                <a:ea typeface="Aptos Display"/>
              </a:rPr>
              <a:t>-58 dBm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2"/>
          <p:cNvSpPr/>
          <p:nvPr/>
        </p:nvSpPr>
        <p:spPr>
          <a:xfrm>
            <a:off x="8357760" y="2670120"/>
            <a:ext cx="103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RSSI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3"/>
          <p:cNvSpPr/>
          <p:nvPr/>
        </p:nvSpPr>
        <p:spPr>
          <a:xfrm>
            <a:off x="9711000" y="2194560"/>
            <a:ext cx="132552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4"/>
          <p:cNvSpPr/>
          <p:nvPr/>
        </p:nvSpPr>
        <p:spPr>
          <a:xfrm>
            <a:off x="9857160" y="2331720"/>
            <a:ext cx="10328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4A62A"/>
                </a:solidFill>
                <a:effectLst/>
                <a:uFillTx/>
                <a:latin typeface="Aptos Display"/>
                <a:ea typeface="Aptos Display"/>
              </a:rPr>
              <a:t>120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5"/>
          <p:cNvSpPr/>
          <p:nvPr/>
        </p:nvSpPr>
        <p:spPr>
          <a:xfrm>
            <a:off x="9857160" y="2670120"/>
            <a:ext cx="103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amostras no gráfico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6"/>
          <p:cNvSpPr/>
          <p:nvPr/>
        </p:nvSpPr>
        <p:spPr>
          <a:xfrm>
            <a:off x="6931080" y="4498560"/>
            <a:ext cx="3657600" cy="360"/>
          </a:xfrm>
          <a:prstGeom prst="line">
            <a:avLst/>
          </a:prstGeom>
          <a:ln w="254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7"/>
          <p:cNvSpPr/>
          <p:nvPr/>
        </p:nvSpPr>
        <p:spPr>
          <a:xfrm flipV="1">
            <a:off x="6931080" y="4361400"/>
            <a:ext cx="502920" cy="137160"/>
          </a:xfrm>
          <a:prstGeom prst="line">
            <a:avLst/>
          </a:prstGeom>
          <a:ln w="254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8"/>
          <p:cNvSpPr/>
          <p:nvPr/>
        </p:nvSpPr>
        <p:spPr>
          <a:xfrm>
            <a:off x="7434000" y="4361400"/>
            <a:ext cx="384120" cy="338400"/>
          </a:xfrm>
          <a:prstGeom prst="line">
            <a:avLst/>
          </a:prstGeom>
          <a:ln w="254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39"/>
          <p:cNvSpPr/>
          <p:nvPr/>
        </p:nvSpPr>
        <p:spPr>
          <a:xfrm flipV="1">
            <a:off x="7818120" y="3831120"/>
            <a:ext cx="420480" cy="868680"/>
          </a:xfrm>
          <a:prstGeom prst="line">
            <a:avLst/>
          </a:prstGeom>
          <a:ln w="254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0"/>
          <p:cNvSpPr/>
          <p:nvPr/>
        </p:nvSpPr>
        <p:spPr>
          <a:xfrm>
            <a:off x="8238600" y="3831120"/>
            <a:ext cx="347400" cy="713160"/>
          </a:xfrm>
          <a:prstGeom prst="line">
            <a:avLst/>
          </a:prstGeom>
          <a:ln w="254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1"/>
          <p:cNvSpPr/>
          <p:nvPr/>
        </p:nvSpPr>
        <p:spPr>
          <a:xfrm>
            <a:off x="6903720" y="5029200"/>
            <a:ext cx="2194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telemetria em tempo real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2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3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530280" y="3841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PROTÓTIPO FUNCIONANDO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511920" y="6584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Resultados obtidos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"/>
          <p:cNvSpPr/>
          <p:nvPr/>
        </p:nvSpPr>
        <p:spPr>
          <a:xfrm>
            <a:off x="749880" y="1444680"/>
            <a:ext cx="219420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5"/>
          <p:cNvSpPr/>
          <p:nvPr/>
        </p:nvSpPr>
        <p:spPr>
          <a:xfrm>
            <a:off x="896040" y="1581840"/>
            <a:ext cx="1901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0A89D"/>
                </a:solidFill>
                <a:effectLst/>
                <a:uFillTx/>
                <a:latin typeface="Aptos Display"/>
                <a:ea typeface="Aptos Display"/>
              </a:rPr>
              <a:t>25 ms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896040" y="1920240"/>
            <a:ext cx="190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leitura do sensor no modo Demo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7"/>
          <p:cNvSpPr/>
          <p:nvPr/>
        </p:nvSpPr>
        <p:spPr>
          <a:xfrm>
            <a:off x="3200400" y="1444680"/>
            <a:ext cx="219420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3346560" y="1581840"/>
            <a:ext cx="1901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E90FF"/>
                </a:solidFill>
                <a:effectLst/>
                <a:uFillTx/>
                <a:latin typeface="Aptos Display"/>
                <a:ea typeface="Aptos Display"/>
              </a:rPr>
              <a:t>500 ms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9"/>
          <p:cNvSpPr/>
          <p:nvPr/>
        </p:nvSpPr>
        <p:spPr>
          <a:xfrm>
            <a:off x="3346560" y="1920240"/>
            <a:ext cx="190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publicação MQTT no modo Demo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0"/>
          <p:cNvSpPr/>
          <p:nvPr/>
        </p:nvSpPr>
        <p:spPr>
          <a:xfrm>
            <a:off x="5650920" y="1444680"/>
            <a:ext cx="219420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1"/>
          <p:cNvSpPr/>
          <p:nvPr/>
        </p:nvSpPr>
        <p:spPr>
          <a:xfrm>
            <a:off x="5797440" y="1581840"/>
            <a:ext cx="1901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4A62A"/>
                </a:solidFill>
                <a:effectLst/>
                <a:uFillTx/>
                <a:latin typeface="Aptos Display"/>
                <a:ea typeface="Aptos Display"/>
              </a:rPr>
              <a:t>120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2"/>
          <p:cNvSpPr/>
          <p:nvPr/>
        </p:nvSpPr>
        <p:spPr>
          <a:xfrm>
            <a:off x="5797440" y="1920240"/>
            <a:ext cx="190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amostras exibidas no gráfico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3"/>
          <p:cNvSpPr/>
          <p:nvPr/>
        </p:nvSpPr>
        <p:spPr>
          <a:xfrm>
            <a:off x="8101440" y="1444680"/>
            <a:ext cx="2194200" cy="78588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4"/>
          <p:cNvSpPr/>
          <p:nvPr/>
        </p:nvSpPr>
        <p:spPr>
          <a:xfrm>
            <a:off x="8247960" y="1581840"/>
            <a:ext cx="1901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48D597"/>
                </a:solidFill>
                <a:effectLst/>
                <a:uFillTx/>
                <a:latin typeface="Aptos Display"/>
                <a:ea typeface="Aptos Display"/>
              </a:rPr>
              <a:t>95%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5"/>
          <p:cNvSpPr/>
          <p:nvPr/>
        </p:nvSpPr>
        <p:spPr>
          <a:xfrm>
            <a:off x="8247960" y="1920240"/>
            <a:ext cx="1901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bateria estimada por calibração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6"/>
          <p:cNvSpPr/>
          <p:nvPr/>
        </p:nvSpPr>
        <p:spPr>
          <a:xfrm>
            <a:off x="749880" y="2743200"/>
            <a:ext cx="4891680" cy="25783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7"/>
          <p:cNvSpPr/>
          <p:nvPr/>
        </p:nvSpPr>
        <p:spPr>
          <a:xfrm>
            <a:off x="1024200" y="30906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Queda confirmada em teste controlado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8"/>
          <p:cNvSpPr/>
          <p:nvPr/>
        </p:nvSpPr>
        <p:spPr>
          <a:xfrm>
            <a:off x="1024200" y="373068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9"/>
          <p:cNvSpPr/>
          <p:nvPr/>
        </p:nvSpPr>
        <p:spPr>
          <a:xfrm>
            <a:off x="1188720" y="36576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pico de aceleração: 2,30 g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0"/>
          <p:cNvSpPr/>
          <p:nvPr/>
        </p:nvSpPr>
        <p:spPr>
          <a:xfrm>
            <a:off x="1024200" y="413316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1"/>
          <p:cNvSpPr/>
          <p:nvPr/>
        </p:nvSpPr>
        <p:spPr>
          <a:xfrm>
            <a:off x="1188720" y="40600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pico de giroscópio: 237,20 deg/s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2"/>
          <p:cNvSpPr/>
          <p:nvPr/>
        </p:nvSpPr>
        <p:spPr>
          <a:xfrm>
            <a:off x="1024200" y="453528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3"/>
          <p:cNvSpPr/>
          <p:nvPr/>
        </p:nvSpPr>
        <p:spPr>
          <a:xfrm>
            <a:off x="1188720" y="44622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imobilidade confirmada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4"/>
          <p:cNvSpPr/>
          <p:nvPr/>
        </p:nvSpPr>
        <p:spPr>
          <a:xfrm>
            <a:off x="1024200" y="493776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5"/>
          <p:cNvSpPr/>
          <p:nvPr/>
        </p:nvSpPr>
        <p:spPr>
          <a:xfrm>
            <a:off x="1188720" y="48646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motivo: impact_orientation_immobility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6"/>
          <p:cNvSpPr/>
          <p:nvPr/>
        </p:nvSpPr>
        <p:spPr>
          <a:xfrm>
            <a:off x="6144840" y="2743200"/>
            <a:ext cx="4937400" cy="25783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7"/>
          <p:cNvSpPr/>
          <p:nvPr/>
        </p:nvSpPr>
        <p:spPr>
          <a:xfrm>
            <a:off x="6419160" y="30906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O que foi validado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8"/>
          <p:cNvSpPr/>
          <p:nvPr/>
        </p:nvSpPr>
        <p:spPr>
          <a:xfrm>
            <a:off x="6419160" y="373068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9"/>
          <p:cNvSpPr/>
          <p:nvPr/>
        </p:nvSpPr>
        <p:spPr>
          <a:xfrm>
            <a:off x="6583680" y="365760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telemetria real chegando ao painel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0"/>
          <p:cNvSpPr/>
          <p:nvPr/>
        </p:nvSpPr>
        <p:spPr>
          <a:xfrm>
            <a:off x="6419160" y="413316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1"/>
          <p:cNvSpPr/>
          <p:nvPr/>
        </p:nvSpPr>
        <p:spPr>
          <a:xfrm>
            <a:off x="6583680" y="40600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eventos persistidos no histórico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2"/>
          <p:cNvSpPr/>
          <p:nvPr/>
        </p:nvSpPr>
        <p:spPr>
          <a:xfrm>
            <a:off x="6419160" y="453528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3"/>
          <p:cNvSpPr/>
          <p:nvPr/>
        </p:nvSpPr>
        <p:spPr>
          <a:xfrm>
            <a:off x="6583680" y="446220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alertas com atendimento e exportação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34"/>
          <p:cNvSpPr/>
          <p:nvPr/>
        </p:nvSpPr>
        <p:spPr>
          <a:xfrm>
            <a:off x="6419160" y="493776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5"/>
          <p:cNvSpPr/>
          <p:nvPr/>
        </p:nvSpPr>
        <p:spPr>
          <a:xfrm>
            <a:off x="6583680" y="48646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modo Demo para apresentação em bancada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6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7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"/>
          <p:cNvSpPr/>
          <p:nvPr/>
        </p:nvSpPr>
        <p:spPr>
          <a:xfrm>
            <a:off x="530280" y="3841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O QUE FUNCIONOU E O QUE AINDA LIMITA O SISTEMA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"/>
          <p:cNvSpPr/>
          <p:nvPr/>
        </p:nvSpPr>
        <p:spPr>
          <a:xfrm>
            <a:off x="511920" y="6584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Discussão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4"/>
          <p:cNvSpPr/>
          <p:nvPr/>
        </p:nvSpPr>
        <p:spPr>
          <a:xfrm>
            <a:off x="658440" y="1371600"/>
            <a:ext cx="3428640" cy="4407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960120" y="16916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Pontos fortes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6"/>
          <p:cNvSpPr/>
          <p:nvPr/>
        </p:nvSpPr>
        <p:spPr>
          <a:xfrm>
            <a:off x="960120" y="232272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7"/>
          <p:cNvSpPr/>
          <p:nvPr/>
        </p:nvSpPr>
        <p:spPr>
          <a:xfrm>
            <a:off x="1124640" y="224928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Decisão local no ESP32 reduz dependência do navegador.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8"/>
          <p:cNvSpPr/>
          <p:nvPr/>
        </p:nvSpPr>
        <p:spPr>
          <a:xfrm>
            <a:off x="960120" y="305424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9"/>
          <p:cNvSpPr/>
          <p:nvPr/>
        </p:nvSpPr>
        <p:spPr>
          <a:xfrm>
            <a:off x="1124640" y="298080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Histórico e evidências facilitam auditoria.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0"/>
          <p:cNvSpPr/>
          <p:nvPr/>
        </p:nvSpPr>
        <p:spPr>
          <a:xfrm>
            <a:off x="960120" y="374904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1"/>
          <p:cNvSpPr/>
          <p:nvPr/>
        </p:nvSpPr>
        <p:spPr>
          <a:xfrm>
            <a:off x="1124640" y="367596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Multi-tenant e JWT organizam acesso ao painel.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2"/>
          <p:cNvSpPr/>
          <p:nvPr/>
        </p:nvSpPr>
        <p:spPr>
          <a:xfrm>
            <a:off x="960120" y="444384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3"/>
          <p:cNvSpPr/>
          <p:nvPr/>
        </p:nvSpPr>
        <p:spPr>
          <a:xfrm>
            <a:off x="1124640" y="437076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Modo Demo torna a apresentação mais estável.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4"/>
          <p:cNvSpPr/>
          <p:nvPr/>
        </p:nvSpPr>
        <p:spPr>
          <a:xfrm>
            <a:off x="4407480" y="1371600"/>
            <a:ext cx="3428640" cy="4407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5"/>
          <p:cNvSpPr/>
          <p:nvPr/>
        </p:nvSpPr>
        <p:spPr>
          <a:xfrm>
            <a:off x="4709160" y="16916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Limitações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6"/>
          <p:cNvSpPr/>
          <p:nvPr/>
        </p:nvSpPr>
        <p:spPr>
          <a:xfrm>
            <a:off x="4709160" y="2322720"/>
            <a:ext cx="82080" cy="82080"/>
          </a:xfrm>
          <a:prstGeom prst="ellipse">
            <a:avLst/>
          </a:prstGeom>
          <a:solidFill>
            <a:srgbClr val="C9213A"/>
          </a:solidFill>
          <a:ln w="12700">
            <a:solidFill>
              <a:srgbClr val="C921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7"/>
          <p:cNvSpPr/>
          <p:nvPr/>
        </p:nvSpPr>
        <p:spPr>
          <a:xfrm>
            <a:off x="4873680" y="224928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Não é equipamento médico validado.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8"/>
          <p:cNvSpPr/>
          <p:nvPr/>
        </p:nvSpPr>
        <p:spPr>
          <a:xfrm>
            <a:off x="4709160" y="301752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9"/>
          <p:cNvSpPr/>
          <p:nvPr/>
        </p:nvSpPr>
        <p:spPr>
          <a:xfrm>
            <a:off x="4873680" y="294444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Precisa de mais testes para reduzir falsos positivos.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0"/>
          <p:cNvSpPr/>
          <p:nvPr/>
        </p:nvSpPr>
        <p:spPr>
          <a:xfrm>
            <a:off x="4709160" y="376740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1"/>
          <p:cNvSpPr/>
          <p:nvPr/>
        </p:nvSpPr>
        <p:spPr>
          <a:xfrm>
            <a:off x="4873680" y="36943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Bateria ainda é estimativa manual por tempo.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2"/>
          <p:cNvSpPr/>
          <p:nvPr/>
        </p:nvSpPr>
        <p:spPr>
          <a:xfrm>
            <a:off x="4709160" y="4462200"/>
            <a:ext cx="82080" cy="82080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3"/>
          <p:cNvSpPr/>
          <p:nvPr/>
        </p:nvSpPr>
        <p:spPr>
          <a:xfrm>
            <a:off x="4873680" y="43891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FFT ficou como evolução experimental.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24"/>
          <p:cNvSpPr/>
          <p:nvPr/>
        </p:nvSpPr>
        <p:spPr>
          <a:xfrm>
            <a:off x="8156520" y="1371600"/>
            <a:ext cx="3245760" cy="4407120"/>
          </a:xfrm>
          <a:prstGeom prst="roundRect">
            <a:avLst>
              <a:gd name="adj" fmla="val 3380"/>
            </a:avLst>
          </a:prstGeom>
          <a:solidFill>
            <a:srgbClr val="071923"/>
          </a:solidFill>
          <a:ln w="12700">
            <a:solidFill>
              <a:srgbClr val="071923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5"/>
          <p:cNvSpPr/>
          <p:nvPr/>
        </p:nvSpPr>
        <p:spPr>
          <a:xfrm>
            <a:off x="8458200" y="16916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Teste seguro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6"/>
          <p:cNvSpPr/>
          <p:nvPr/>
        </p:nvSpPr>
        <p:spPr>
          <a:xfrm>
            <a:off x="8458200" y="2286000"/>
            <a:ext cx="260568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E7FBFF"/>
                </a:solidFill>
                <a:effectLst/>
                <a:uFillTx/>
                <a:latin typeface="Aptos"/>
              </a:rPr>
              <a:t>A demonstração deve ser feita com a caixa/sensor em superfície macia, sem pessoa, sem arremesso forte e com o módulo imóvel após o impacto.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7"/>
          <p:cNvSpPr/>
          <p:nvPr/>
        </p:nvSpPr>
        <p:spPr>
          <a:xfrm>
            <a:off x="8458200" y="4663440"/>
            <a:ext cx="2194200" cy="255600"/>
          </a:xfrm>
          <a:prstGeom prst="roundRect">
            <a:avLst>
              <a:gd name="adj" fmla="val 50000"/>
            </a:avLst>
          </a:prstGeom>
          <a:solidFill>
            <a:srgbClr val="C9213A"/>
          </a:solidFill>
          <a:ln w="12700">
            <a:solidFill>
              <a:srgbClr val="C9213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8"/>
          <p:cNvSpPr/>
          <p:nvPr/>
        </p:nvSpPr>
        <p:spPr>
          <a:xfrm>
            <a:off x="8505540" y="4717800"/>
            <a:ext cx="21942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não</a:t>
            </a:r>
            <a:r>
              <a:rPr lang="en-US" sz="72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72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testar</a:t>
            </a:r>
            <a:r>
              <a:rPr lang="en-US" sz="72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72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queda</a:t>
            </a:r>
            <a:r>
              <a:rPr lang="en-US" sz="72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com </a:t>
            </a:r>
            <a:r>
              <a:rPr lang="en-US" sz="72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pessoa</a:t>
            </a:r>
            <a:endParaRPr lang="en-US" sz="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9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30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3F8FA"/>
          </a:solidFill>
          <a:ln w="12700">
            <a:solidFill>
              <a:srgbClr val="F3F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"/>
          <p:cNvSpPr/>
          <p:nvPr/>
        </p:nvSpPr>
        <p:spPr>
          <a:xfrm>
            <a:off x="530280" y="3841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A89D"/>
                </a:solidFill>
                <a:effectLst/>
                <a:uFillTx/>
                <a:latin typeface="Aptos"/>
              </a:rPr>
              <a:t>SÍNTESE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3"/>
          <p:cNvSpPr/>
          <p:nvPr/>
        </p:nvSpPr>
        <p:spPr>
          <a:xfrm>
            <a:off x="511920" y="658440"/>
            <a:ext cx="8595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02532"/>
                </a:solidFill>
                <a:effectLst/>
                <a:uFillTx/>
                <a:latin typeface="Aptos Display"/>
                <a:ea typeface="Aptos Display"/>
              </a:rPr>
              <a:t>Conclusão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4"/>
          <p:cNvSpPr/>
          <p:nvPr/>
        </p:nvSpPr>
        <p:spPr>
          <a:xfrm>
            <a:off x="731520" y="1353240"/>
            <a:ext cx="5074560" cy="3931560"/>
          </a:xfrm>
          <a:prstGeom prst="roundRect">
            <a:avLst>
              <a:gd name="adj" fmla="val 2791"/>
            </a:avLst>
          </a:prstGeom>
          <a:solidFill>
            <a:srgbClr val="071923"/>
          </a:solidFill>
          <a:ln w="12700">
            <a:solidFill>
              <a:srgbClr val="071923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5"/>
          <p:cNvSpPr/>
          <p:nvPr/>
        </p:nvSpPr>
        <p:spPr>
          <a:xfrm>
            <a:off x="1078920" y="1810440"/>
            <a:ext cx="443448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 projeto atingiu o objetivo acadêmico: integrar sensor, comunicação, backend, banco e interface web em um sistema demonstrável de monitoramento de quedas.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6"/>
          <p:cNvSpPr/>
          <p:nvPr/>
        </p:nvSpPr>
        <p:spPr>
          <a:xfrm>
            <a:off x="1078920" y="4462200"/>
            <a:ext cx="4251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CDEEF2"/>
                </a:solidFill>
                <a:effectLst/>
                <a:uFillTx/>
                <a:latin typeface="Aptos"/>
              </a:rPr>
              <a:t>A arquitetura modular permite evolução futura sem refazer todo o sistema.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7"/>
          <p:cNvSpPr/>
          <p:nvPr/>
        </p:nvSpPr>
        <p:spPr>
          <a:xfrm>
            <a:off x="6400800" y="1371600"/>
            <a:ext cx="2057040" cy="1078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8"/>
          <p:cNvSpPr/>
          <p:nvPr/>
        </p:nvSpPr>
        <p:spPr>
          <a:xfrm>
            <a:off x="6565320" y="160020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Mais testes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9"/>
          <p:cNvSpPr/>
          <p:nvPr/>
        </p:nvSpPr>
        <p:spPr>
          <a:xfrm>
            <a:off x="6565320" y="19476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coletar dados em diferentes posições e superfícies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0"/>
          <p:cNvSpPr/>
          <p:nvPr/>
        </p:nvSpPr>
        <p:spPr>
          <a:xfrm>
            <a:off x="8869680" y="1371600"/>
            <a:ext cx="2057040" cy="1078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1"/>
          <p:cNvSpPr/>
          <p:nvPr/>
        </p:nvSpPr>
        <p:spPr>
          <a:xfrm>
            <a:off x="9034200" y="160020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Calibração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2"/>
          <p:cNvSpPr/>
          <p:nvPr/>
        </p:nvSpPr>
        <p:spPr>
          <a:xfrm>
            <a:off x="9034200" y="19476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ajustar limiares para reduzir falsos positivos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3"/>
          <p:cNvSpPr/>
          <p:nvPr/>
        </p:nvSpPr>
        <p:spPr>
          <a:xfrm>
            <a:off x="6400800" y="2853000"/>
            <a:ext cx="2057040" cy="1078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4"/>
          <p:cNvSpPr/>
          <p:nvPr/>
        </p:nvSpPr>
        <p:spPr>
          <a:xfrm>
            <a:off x="6565320" y="308160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Bateria real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5"/>
          <p:cNvSpPr/>
          <p:nvPr/>
        </p:nvSpPr>
        <p:spPr>
          <a:xfrm>
            <a:off x="6565320" y="34290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medição elétrica por ADC ou fuel gauge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6"/>
          <p:cNvSpPr/>
          <p:nvPr/>
        </p:nvSpPr>
        <p:spPr>
          <a:xfrm>
            <a:off x="8869680" y="2853000"/>
            <a:ext cx="2057040" cy="1078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6E3EA"/>
            </a:solidFill>
            <a:round/>
          </a:ln>
          <a:effectLst>
            <a:outerShdw blurRad="19080" dist="9673" dir="2700000" algn="bl" rotWithShape="0">
              <a:srgbClr val="8BA0AD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7"/>
          <p:cNvSpPr/>
          <p:nvPr/>
        </p:nvSpPr>
        <p:spPr>
          <a:xfrm>
            <a:off x="9034200" y="308160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532"/>
                </a:solidFill>
                <a:effectLst/>
                <a:uFillTx/>
                <a:latin typeface="Aptos"/>
              </a:rPr>
              <a:t>FFT e 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8"/>
          <p:cNvSpPr/>
          <p:nvPr/>
        </p:nvSpPr>
        <p:spPr>
          <a:xfrm>
            <a:off x="9034200" y="342900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7280"/>
                </a:solidFill>
                <a:effectLst/>
                <a:uFillTx/>
                <a:latin typeface="Aptos"/>
              </a:rPr>
              <a:t>estudar features adicionais no futuro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0"/>
          <p:cNvSpPr/>
          <p:nvPr/>
        </p:nvSpPr>
        <p:spPr>
          <a:xfrm>
            <a:off x="6656760" y="4901040"/>
            <a:ext cx="393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1"/>
          <p:cNvSpPr/>
          <p:nvPr/>
        </p:nvSpPr>
        <p:spPr>
          <a:xfrm>
            <a:off x="502920" y="651060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E7280"/>
                </a:solidFill>
                <a:effectLst/>
                <a:uFillTx/>
                <a:latin typeface="Aptos"/>
                <a:ea typeface="Aptos"/>
              </a:rPr>
              <a:t>Projetos em Engenharia da Computação II • Sistema IoT de Monitoramento de Quedas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2"/>
          <p:cNvSpPr/>
          <p:nvPr/>
        </p:nvSpPr>
        <p:spPr>
          <a:xfrm>
            <a:off x="11109960" y="64555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A89D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1397</Words>
  <Application>Microsoft Office PowerPoint</Application>
  <PresentationFormat>Widescreen</PresentationFormat>
  <Paragraphs>240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Universidade do Vale do Paraíba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Rafael Ryan Ramos de Souza</cp:lastModifiedBy>
  <cp:revision>2</cp:revision>
  <dcterms:modified xsi:type="dcterms:W3CDTF">2026-06-17T01:04:26Z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2026-06-16T19:41:24Z</dcterms:created>
  <dc:creator>Rafael Ryan Ramos de Souza e Rodrigo de Souza Scarinci</dc:creator>
  <dc:description/>
  <dc:language>en-US</dc:language>
  <cp:lastModifiedBy>Rafael Ryan Ramos de Souza e Rodrigo de Souza Scarinci</cp:lastModifiedBy>
  <dcterms:modified xsi:type="dcterms:W3CDTF">2026-06-16T19:41:24Z</dcterms:modified>
  <cp:revision>1</cp:revision>
  <dc:subject>Apresentação de vídeo - Projeto IoT Monitor de Quedas</dc:subject>
  <dc:title>Sistema IoT Full-stack para Monitoramento e Detecção de Quedas em Idosos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